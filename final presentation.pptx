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365760"/>
            <a:ext cx="2011680" cy="201168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109728" cy="2194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858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Scrum-Agile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ChadaTech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85800" y="3520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case for ditching Waterfall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4114800"/>
            <a:ext cx="5029200" cy="0"/>
          </a:xfrm>
          <a:prstGeom prst="line">
            <a:avLst/>
          </a:prstGeom>
          <a:noFill/>
          <a:ln w="10160">
            <a:solidFill>
              <a:srgbClr val="9CA3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42519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Tanvi Chowdhury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250 – Software Development Lifecycle  |  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ROLES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 on a Scrum Team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09728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371600"/>
            <a:ext cx="2697480" cy="3520440"/>
          </a:xfrm>
          <a:prstGeom prst="rect">
            <a:avLst/>
          </a:prstGeom>
          <a:solidFill>
            <a:srgbClr val="1F2937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371600"/>
            <a:ext cx="269748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4813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12064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2064" y="2487168"/>
            <a:ext cx="2194560" cy="0"/>
          </a:xfrm>
          <a:prstGeom prst="line">
            <a:avLst/>
          </a:prstGeom>
          <a:noFill/>
          <a:ln w="635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2578608"/>
            <a:ext cx="23774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Product Backlog and defines what gets built. Sets acceptance criteria, communicates business value, and re-prioritizes when things change — like when SNHU Travel pivoted to wellness travel.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371600"/>
            <a:ext cx="2697480" cy="3520440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371600"/>
            <a:ext cx="26974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4813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64992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64992" y="2487168"/>
            <a:ext cx="2194560" cy="0"/>
          </a:xfrm>
          <a:prstGeom prst="line">
            <a:avLst/>
          </a:prstGeom>
          <a:noFill/>
          <a:ln w="63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2578608"/>
            <a:ext cx="23774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team's coach and protector. Facilitates ceremonies (standups, planning, retrospectives), removes roadblocks, and keeps the team focused on the sprint goal without micromanaging.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53328" y="1371600"/>
            <a:ext cx="2697480" cy="3520440"/>
          </a:xfrm>
          <a:prstGeom prst="rect">
            <a:avLst/>
          </a:prstGeom>
          <a:solidFill>
            <a:srgbClr val="1F2937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53328" y="1371600"/>
            <a:ext cx="2697480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4813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1792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Team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7920" y="2487168"/>
            <a:ext cx="2194560" cy="0"/>
          </a:xfrm>
          <a:prstGeom prst="line">
            <a:avLst/>
          </a:prstGeom>
          <a:noFill/>
          <a:ln w="6350">
            <a:solidFill>
              <a:srgbClr val="818C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578608"/>
            <a:ext cx="23774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Self-organizing, cross-functional, and fully accountable for delivering a working increment every sprint. They estimate the work, own technical decisions, and commit to the sprint goal.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Schwaber &amp; Sutherland, 2020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SDLC PHASES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SDLC Works in Agile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09728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1874520"/>
            <a:ext cx="0" cy="228600"/>
          </a:xfrm>
          <a:prstGeom prst="line">
            <a:avLst/>
          </a:prstGeom>
          <a:noFill/>
          <a:ln w="10160">
            <a:solidFill>
              <a:srgbClr val="9CA3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408176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vision, build the initial Product Backlog, and set sprint length. In Agile this is lightweight — enough to start, not a 50-page spec.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2029968"/>
            <a:ext cx="5486400" cy="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9456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" y="2606040"/>
            <a:ext cx="0" cy="228600"/>
          </a:xfrm>
          <a:prstGeom prst="line">
            <a:avLst/>
          </a:prstGeom>
          <a:noFill/>
          <a:ln w="10160">
            <a:solidFill>
              <a:srgbClr val="9CA3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139696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backlog items into user stories with acceptance criteria. This happens continuously — not just once at the start.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2761488"/>
            <a:ext cx="5486400" cy="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26080"/>
            <a:ext cx="411480" cy="41148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880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8368" y="3337560"/>
            <a:ext cx="0" cy="228600"/>
          </a:xfrm>
          <a:prstGeom prst="line">
            <a:avLst/>
          </a:prstGeom>
          <a:noFill/>
          <a:ln w="10160">
            <a:solidFill>
              <a:srgbClr val="9CA3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2871216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design decisions are made incrementally, just-in-time for each sprint. No big design upfront.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3493008"/>
            <a:ext cx="5486400" cy="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657600"/>
            <a:ext cx="411480" cy="4114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58368" y="4069080"/>
            <a:ext cx="0" cy="228600"/>
          </a:xfrm>
          <a:prstGeom prst="line">
            <a:avLst/>
          </a:prstGeom>
          <a:noFill/>
          <a:ln w="10160">
            <a:solidFill>
              <a:srgbClr val="9CA3A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3602736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unit test, and deliver working software every sprint. Each increment is potentially shippable.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0" y="4224528"/>
            <a:ext cx="5486400" cy="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389120"/>
            <a:ext cx="411480" cy="41148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389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4343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Review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200400" y="4334256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 with stakeholders, followed by a Retrospective. Feedback drives the next sprint's backlog refinement.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Cohn, 2010; Rubin, 2012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COMPARISON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vs. Agile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09728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3840480" cy="411480"/>
          </a:xfrm>
          <a:prstGeom prst="rect">
            <a:avLst/>
          </a:prstGeom>
          <a:solidFill>
            <a:srgbClr val="1F2937"/>
          </a:solidFill>
          <a:ln w="6350">
            <a:solidFill>
              <a:srgbClr val="9CA3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325880"/>
            <a:ext cx="3840480" cy="411480"/>
          </a:xfrm>
          <a:prstGeom prst="rect">
            <a:avLst/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3258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(Scrum)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792224"/>
            <a:ext cx="3840480" cy="566928"/>
          </a:xfrm>
          <a:prstGeom prst="rect">
            <a:avLst/>
          </a:prstGeom>
          <a:solidFill>
            <a:srgbClr val="1A2235"/>
          </a:solidFill>
          <a:ln w="3810">
            <a:solidFill>
              <a:srgbClr val="3741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9222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phases — must finish each before moving 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1792224"/>
            <a:ext cx="3840480" cy="566928"/>
          </a:xfrm>
          <a:prstGeom prst="rect">
            <a:avLst/>
          </a:prstGeom>
          <a:solidFill>
            <a:srgbClr val="1A2235"/>
          </a:solidFill>
          <a:ln w="3810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79222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sprints — working software every 2–4 weeks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414016"/>
            <a:ext cx="3840480" cy="566928"/>
          </a:xfrm>
          <a:prstGeom prst="rect">
            <a:avLst/>
          </a:prstGeom>
          <a:solidFill>
            <a:srgbClr val="1F2937"/>
          </a:solidFill>
          <a:ln w="3810">
            <a:solidFill>
              <a:srgbClr val="3741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1401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locked in at the start; changes cost a lot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2414016"/>
            <a:ext cx="3840480" cy="566928"/>
          </a:xfrm>
          <a:prstGeom prst="rect">
            <a:avLst/>
          </a:prstGeom>
          <a:solidFill>
            <a:srgbClr val="1F2937"/>
          </a:solidFill>
          <a:ln w="3810">
            <a:solidFill>
              <a:srgbClr val="3741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41401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evolve via backlog refinement — change is expected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035808"/>
            <a:ext cx="3840480" cy="566928"/>
          </a:xfrm>
          <a:prstGeom prst="rect">
            <a:avLst/>
          </a:prstGeom>
          <a:solidFill>
            <a:srgbClr val="1A2235"/>
          </a:solidFill>
          <a:ln w="3810">
            <a:solidFill>
              <a:srgbClr val="3741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03580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big release at the very end of the project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3035808"/>
            <a:ext cx="3840480" cy="566928"/>
          </a:xfrm>
          <a:prstGeom prst="rect">
            <a:avLst/>
          </a:prstGeom>
          <a:solidFill>
            <a:srgbClr val="1A2235"/>
          </a:solidFill>
          <a:ln w="3810">
            <a:solidFill>
              <a:srgbClr val="3741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03580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Potentially shippable increment delivered every single sprint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3840480" cy="566928"/>
          </a:xfrm>
          <a:prstGeom prst="rect">
            <a:avLst/>
          </a:prstGeom>
          <a:solidFill>
            <a:srgbClr val="1F2937"/>
          </a:solidFill>
          <a:ln w="3810">
            <a:solidFill>
              <a:srgbClr val="3741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65760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feedback comes too late — often after dev is done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3657600"/>
            <a:ext cx="3840480" cy="566928"/>
          </a:xfrm>
          <a:prstGeom prst="rect">
            <a:avLst/>
          </a:prstGeom>
          <a:solidFill>
            <a:srgbClr val="1F2937"/>
          </a:solidFill>
          <a:ln w="3810">
            <a:solidFill>
              <a:srgbClr val="3741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365760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Reviews keep stakeholders in the loop the whole time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279392"/>
            <a:ext cx="3840480" cy="566928"/>
          </a:xfrm>
          <a:prstGeom prst="rect">
            <a:avLst/>
          </a:prstGeom>
          <a:solidFill>
            <a:srgbClr val="1A2235"/>
          </a:solidFill>
          <a:ln w="3810">
            <a:solidFill>
              <a:srgbClr val="3741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27939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SNHU Travel: wellness pivot would restart entire requirements phase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0" y="4279392"/>
            <a:ext cx="3840480" cy="566928"/>
          </a:xfrm>
          <a:prstGeom prst="rect">
            <a:avLst/>
          </a:prstGeom>
          <a:solidFill>
            <a:srgbClr val="1A2235"/>
          </a:solidFill>
          <a:ln w="3810">
            <a:solidFill>
              <a:srgbClr val="37415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427939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SNHU Travel: pivot handled in one meeting, no timeline impact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Rubin, 2012; Cohn, 2010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RECOMMENDATION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— Which One Should ChadaTech Use?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09728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53312"/>
            <a:ext cx="4160520" cy="3246120"/>
          </a:xfrm>
          <a:prstGeom prst="rect">
            <a:avLst/>
          </a:prstGeom>
          <a:solidFill>
            <a:srgbClr val="1F2937"/>
          </a:solidFill>
          <a:ln w="12700">
            <a:solidFill>
              <a:srgbClr val="9CA3A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53312"/>
            <a:ext cx="4160520" cy="64008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4475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 with Waterfall if…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3794760" cy="2514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are locked in from day one and won't change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or contract requirements demand phase-by-phase documentation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is highly distributed and can't sprint together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budget are contractually fixed upfront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353312"/>
            <a:ext cx="4160520" cy="3246120"/>
          </a:xfrm>
          <a:prstGeom prst="rect">
            <a:avLst/>
          </a:prstGeom>
          <a:solidFill>
            <a:srgbClr val="0F2A27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53312"/>
            <a:ext cx="416052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44475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Agile when…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3794760" cy="2514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are going to evolve — and they usually do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to ship fast and get real user feedback early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is collaborative and can work in short cycles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and adapting to change are competitive advantages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663440"/>
            <a:ext cx="8412480" cy="40233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6634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ChadaTech and clients like SNHU Travel — Agile is the right call.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28016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3677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63040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Cohn, M. (2010). Succeeding with Agile: Software development using Scrum. Addison-Wesley Professional.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267712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Derby, E., &amp; Larsen, D. (2006). Agile retrospectives: Making good teams great. Pragmatic Bookshelf.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072384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Rubin, K. S. (2012). Essential Scrum: A practical guide to the most popular Agile process. Addison-Wesley Professional.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050792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877056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Schwaber, K., &amp; Sutherland, J. (2020). The Scrum guide: The definitive guide to Scrum: The rules of the game. Scrum.org. https://scrumguides.org/scrum-guide.html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Presentation – ChadaTech</dc:title>
  <dc:subject>PptxGenJS Presentation</dc:subject>
  <dc:creator>Tanvi Chowdhury</dc:creator>
  <cp:lastModifiedBy>Tanvi Chowdhury</cp:lastModifiedBy>
  <cp:revision>1</cp:revision>
  <dcterms:created xsi:type="dcterms:W3CDTF">2026-04-23T20:29:50Z</dcterms:created>
  <dcterms:modified xsi:type="dcterms:W3CDTF">2026-04-23T20:29:50Z</dcterms:modified>
</cp:coreProperties>
</file>